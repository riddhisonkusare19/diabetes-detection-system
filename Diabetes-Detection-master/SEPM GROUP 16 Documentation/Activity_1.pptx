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887200" cy="6858000"/>
  <p:notesSz cx="118872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1540" y="2125980"/>
            <a:ext cx="1010412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83080" y="3840480"/>
            <a:ext cx="832104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94360" y="1577340"/>
            <a:ext cx="517093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121908" y="1577340"/>
            <a:ext cx="517093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76159" y="1523879"/>
            <a:ext cx="8382634" cy="0"/>
          </a:xfrm>
          <a:custGeom>
            <a:avLst/>
            <a:gdLst/>
            <a:ahLst/>
            <a:cxnLst/>
            <a:rect l="l" t="t" r="r" b="b"/>
            <a:pathLst>
              <a:path w="8382634" h="0">
                <a:moveTo>
                  <a:pt x="0" y="0"/>
                </a:moveTo>
                <a:lnTo>
                  <a:pt x="8382299" y="0"/>
                </a:lnTo>
              </a:path>
            </a:pathLst>
          </a:custGeom>
          <a:ln w="41399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7385" y="263418"/>
            <a:ext cx="10552429" cy="10074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9726" y="1686114"/>
            <a:ext cx="10285095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041648" y="6377940"/>
            <a:ext cx="38039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94360" y="6377940"/>
            <a:ext cx="273405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58784" y="6377940"/>
            <a:ext cx="273405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9254" y="263418"/>
            <a:ext cx="6461760" cy="8362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1285">
              <a:lnSpc>
                <a:spcPts val="3190"/>
              </a:lnSpc>
              <a:spcBef>
                <a:spcPts val="100"/>
              </a:spcBef>
            </a:pPr>
            <a:r>
              <a:rPr dirty="0" sz="2800" b="0">
                <a:latin typeface="Times New Roman"/>
                <a:cs typeface="Times New Roman"/>
              </a:rPr>
              <a:t>Pimpri</a:t>
            </a:r>
            <a:r>
              <a:rPr dirty="0" sz="2800" spc="-70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Chinchwad</a:t>
            </a:r>
            <a:r>
              <a:rPr dirty="0" sz="2800" spc="-65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Education</a:t>
            </a:r>
            <a:r>
              <a:rPr dirty="0" sz="2800" spc="-110" b="0">
                <a:latin typeface="Times New Roman"/>
                <a:cs typeface="Times New Roman"/>
              </a:rPr>
              <a:t> </a:t>
            </a:r>
            <a:r>
              <a:rPr dirty="0" sz="2800" b="0">
                <a:latin typeface="Times New Roman"/>
                <a:cs typeface="Times New Roman"/>
              </a:rPr>
              <a:t>Trust</a:t>
            </a:r>
            <a:r>
              <a:rPr dirty="0" sz="2800" spc="-70" b="0">
                <a:latin typeface="Times New Roman"/>
                <a:cs typeface="Times New Roman"/>
              </a:rPr>
              <a:t> </a:t>
            </a:r>
            <a:r>
              <a:rPr dirty="0" sz="2800" spc="-10" b="0">
                <a:latin typeface="Times New Roman"/>
                <a:cs typeface="Times New Roman"/>
              </a:rPr>
              <a:t>(PCET)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190"/>
              </a:lnSpc>
            </a:pPr>
            <a:r>
              <a:rPr dirty="0" sz="2800">
                <a:latin typeface="Times New Roman"/>
                <a:cs typeface="Times New Roman"/>
              </a:rPr>
              <a:t>Pimpri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Chinchwad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College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64113" y="1055695"/>
            <a:ext cx="66376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9001:2015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Certified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Institute,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NBA</a:t>
            </a:r>
            <a:r>
              <a:rPr dirty="0" sz="1400" spc="-1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Accredited,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Accredited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NAAC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65">
                <a:latin typeface="Times New Roman"/>
                <a:cs typeface="Times New Roman"/>
              </a:rPr>
              <a:t>‘A’</a:t>
            </a:r>
            <a:r>
              <a:rPr dirty="0" sz="1400" spc="-10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grade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4190" y="1564507"/>
            <a:ext cx="8355965" cy="1370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184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Department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Information</a:t>
            </a:r>
            <a:r>
              <a:rPr dirty="0" sz="2400" spc="-11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1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latin typeface="Arial"/>
                <a:cs typeface="Arial"/>
              </a:rPr>
              <a:t>Title:</a:t>
            </a:r>
            <a:r>
              <a:rPr dirty="0" sz="2200" spc="-145" b="1">
                <a:latin typeface="Arial"/>
                <a:cs typeface="Arial"/>
              </a:rPr>
              <a:t> </a:t>
            </a:r>
            <a:r>
              <a:rPr dirty="0" sz="2200" spc="-20" b="1">
                <a:latin typeface="Arial"/>
                <a:cs typeface="Arial"/>
              </a:rPr>
              <a:t>AI-</a:t>
            </a:r>
            <a:r>
              <a:rPr dirty="0" sz="2200" spc="-10" b="1">
                <a:latin typeface="Arial"/>
                <a:cs typeface="Arial"/>
              </a:rPr>
              <a:t>Powered</a:t>
            </a:r>
            <a:r>
              <a:rPr dirty="0" sz="2200" spc="-14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Assistive</a:t>
            </a:r>
            <a:r>
              <a:rPr dirty="0" sz="2200" spc="-90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Tool</a:t>
            </a:r>
            <a:r>
              <a:rPr dirty="0" sz="2200" spc="-7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for</a:t>
            </a:r>
            <a:r>
              <a:rPr dirty="0" sz="2200" spc="-8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Early</a:t>
            </a:r>
            <a:r>
              <a:rPr dirty="0" sz="2200" spc="-7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Diagnosis</a:t>
            </a:r>
            <a:r>
              <a:rPr dirty="0" sz="2200" spc="-8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of</a:t>
            </a:r>
            <a:r>
              <a:rPr dirty="0" sz="2200" spc="-7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Diabetic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2014" y="4101756"/>
            <a:ext cx="1310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Presented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3610" y="4650396"/>
            <a:ext cx="178371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Rushikesh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Raut </a:t>
            </a:r>
            <a:r>
              <a:rPr dirty="0" sz="1800" b="1">
                <a:latin typeface="Times New Roman"/>
                <a:cs typeface="Times New Roman"/>
              </a:rPr>
              <a:t>Sarthak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Sarode </a:t>
            </a:r>
            <a:r>
              <a:rPr dirty="0" sz="1800" b="1">
                <a:latin typeface="Times New Roman"/>
                <a:cs typeface="Times New Roman"/>
              </a:rPr>
              <a:t>Shruti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Shimpi </a:t>
            </a:r>
            <a:r>
              <a:rPr dirty="0" sz="1800" b="1">
                <a:latin typeface="Times New Roman"/>
                <a:cs typeface="Times New Roman"/>
              </a:rPr>
              <a:t>Riddhi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Sonkusare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06516" y="4650396"/>
            <a:ext cx="112903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122B1F112</a:t>
            </a:r>
            <a:endParaRPr sz="18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123B2F115</a:t>
            </a:r>
            <a:endParaRPr sz="180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122B1F119</a:t>
            </a:r>
            <a:endParaRPr sz="18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122B1F122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380125" y="4105955"/>
            <a:ext cx="10737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Guided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91845" y="4654596"/>
            <a:ext cx="243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Mrs.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45" b="1">
                <a:latin typeface="Times New Roman"/>
                <a:cs typeface="Times New Roman"/>
              </a:rPr>
              <a:t>MUKTA</a:t>
            </a:r>
            <a:r>
              <a:rPr dirty="0" sz="1800" spc="-10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JAMAGE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57200"/>
            <a:ext cx="1066799" cy="838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imes New Roman"/>
                <a:cs typeface="Times New Roman"/>
              </a:rPr>
              <a:t>Contents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7715" y="1887208"/>
            <a:ext cx="594042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380" indent="-119380">
              <a:lnSpc>
                <a:spcPct val="100000"/>
              </a:lnSpc>
              <a:spcBef>
                <a:spcPts val="100"/>
              </a:spcBef>
              <a:buSzPct val="95833"/>
              <a:buFont typeface="Arial MT"/>
              <a:buChar char="•"/>
              <a:tabLst>
                <a:tab pos="119380" algn="l"/>
              </a:tabLst>
            </a:pP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119380" indent="-119380">
              <a:lnSpc>
                <a:spcPct val="100000"/>
              </a:lnSpc>
              <a:buSzPct val="95833"/>
              <a:buFont typeface="Arial MT"/>
              <a:buChar char="•"/>
              <a:tabLst>
                <a:tab pos="119380" algn="l"/>
              </a:tabLst>
            </a:pPr>
            <a:r>
              <a:rPr dirty="0" sz="2400">
                <a:latin typeface="Times New Roman"/>
                <a:cs typeface="Times New Roman"/>
              </a:rPr>
              <a:t>Domain,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Interest</a:t>
            </a:r>
            <a:endParaRPr sz="2400">
              <a:latin typeface="Times New Roman"/>
              <a:cs typeface="Times New Roman"/>
            </a:endParaRPr>
          </a:p>
          <a:p>
            <a:pPr marL="119380" indent="-119380">
              <a:lnSpc>
                <a:spcPct val="100000"/>
              </a:lnSpc>
              <a:buSzPct val="95833"/>
              <a:buFont typeface="Arial MT"/>
              <a:buChar char="•"/>
              <a:tabLst>
                <a:tab pos="119380" algn="l"/>
              </a:tabLst>
            </a:pPr>
            <a:r>
              <a:rPr dirty="0" sz="2400">
                <a:latin typeface="Times New Roman"/>
                <a:cs typeface="Times New Roman"/>
              </a:rPr>
              <a:t>Motivation</a:t>
            </a:r>
            <a:r>
              <a:rPr dirty="0" sz="1400">
                <a:latin typeface="Arial MT"/>
                <a:cs typeface="Arial MT"/>
              </a:rPr>
              <a:t>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Objectives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Scope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marL="119380" indent="-119380">
              <a:lnSpc>
                <a:spcPct val="100000"/>
              </a:lnSpc>
              <a:buSzPct val="95833"/>
              <a:buChar char="•"/>
              <a:tabLst>
                <a:tab pos="119380" algn="l"/>
              </a:tabLst>
            </a:pPr>
            <a:r>
              <a:rPr dirty="0" sz="2400">
                <a:latin typeface="Times New Roman"/>
                <a:cs typeface="Times New Roman"/>
              </a:rPr>
              <a:t>Strategy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Approach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10">
                <a:latin typeface="Times New Roman"/>
                <a:cs typeface="Times New Roman"/>
              </a:rPr>
              <a:t> Statement</a:t>
            </a:r>
            <a:endParaRPr sz="2400">
              <a:latin typeface="Times New Roman"/>
              <a:cs typeface="Times New Roman"/>
            </a:endParaRPr>
          </a:p>
          <a:p>
            <a:pPr marL="119380" indent="-119380">
              <a:lnSpc>
                <a:spcPct val="100000"/>
              </a:lnSpc>
              <a:buSzPct val="95833"/>
              <a:buFont typeface="Arial MT"/>
              <a:buChar char="•"/>
              <a:tabLst>
                <a:tab pos="119380" algn="l"/>
              </a:tabLst>
            </a:pPr>
            <a:r>
              <a:rPr dirty="0" sz="2400" spc="-1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817225" y="6355046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8B8B8B"/>
                </a:solidFill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4574" rIns="0" bIns="0" rtlCol="0" vert="horz">
            <a:spAutoFit/>
          </a:bodyPr>
          <a:lstStyle/>
          <a:p>
            <a:pPr marL="29616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Problem</a:t>
            </a:r>
            <a:r>
              <a:rPr dirty="0" spc="-85">
                <a:latin typeface="Calibri"/>
                <a:cs typeface="Calibri"/>
              </a:rPr>
              <a:t> </a:t>
            </a:r>
            <a:r>
              <a:rPr dirty="0" spc="-20">
                <a:latin typeface="Calibri"/>
                <a:cs typeface="Calibri"/>
              </a:rPr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17225" y="6355046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8B8B8B"/>
                </a:solidFill>
                <a:latin typeface="Cambria"/>
                <a:cs typeface="Cambria"/>
              </a:rPr>
              <a:t>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9949" y="1929532"/>
            <a:ext cx="979424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mbria"/>
                <a:cs typeface="Cambria"/>
              </a:rPr>
              <a:t>Diabetes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is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chronic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disease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that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affects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millions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people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worldwide, </a:t>
            </a:r>
            <a:r>
              <a:rPr dirty="0" sz="2400">
                <a:latin typeface="Cambria"/>
                <a:cs typeface="Cambria"/>
              </a:rPr>
              <a:t>often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leading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severe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complications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if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not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diagnosed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managed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early. </a:t>
            </a:r>
            <a:r>
              <a:rPr dirty="0" sz="2400" spc="-50">
                <a:latin typeface="Cambria"/>
                <a:cs typeface="Cambria"/>
              </a:rPr>
              <a:t>However,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many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primary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healthcare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settings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lack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necessary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resources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or </a:t>
            </a:r>
            <a:r>
              <a:rPr dirty="0" sz="2400" spc="-10">
                <a:latin typeface="Cambria"/>
                <a:cs typeface="Cambria"/>
              </a:rPr>
              <a:t>expertise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diagnose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diabetes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40">
                <a:latin typeface="Cambria"/>
                <a:cs typeface="Cambria"/>
              </a:rPr>
              <a:t>effectively,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particularly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its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early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stages.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Cambria"/>
                <a:cs typeface="Cambria"/>
              </a:rPr>
              <a:t>This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project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aims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develop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AI-</a:t>
            </a:r>
            <a:r>
              <a:rPr dirty="0" sz="2400" spc="-10">
                <a:latin typeface="Cambria"/>
                <a:cs typeface="Cambria"/>
              </a:rPr>
              <a:t>powered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tool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that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can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assist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healthcare providers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diagnosing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diabetes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at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early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stage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by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analyzing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key </a:t>
            </a:r>
            <a:r>
              <a:rPr dirty="0" sz="2400" spc="-10">
                <a:latin typeface="Cambria"/>
                <a:cs typeface="Cambria"/>
              </a:rPr>
              <a:t>indicators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such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blood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glucose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levels,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pregnancy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30">
                <a:latin typeface="Cambria"/>
                <a:cs typeface="Cambria"/>
              </a:rPr>
              <a:t>history,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other </a:t>
            </a:r>
            <a:r>
              <a:rPr dirty="0" sz="2400" spc="-20">
                <a:latin typeface="Cambria"/>
                <a:cs typeface="Cambria"/>
              </a:rPr>
              <a:t>relevant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health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metrics.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tool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will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help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improve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patient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outcomes,</a:t>
            </a:r>
            <a:r>
              <a:rPr dirty="0" sz="2400" spc="60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enable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timely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intervention,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reduce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burden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on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specialists,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ultimately </a:t>
            </a:r>
            <a:r>
              <a:rPr dirty="0" sz="2400">
                <a:latin typeface="Cambria"/>
                <a:cs typeface="Cambria"/>
              </a:rPr>
              <a:t>contributing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better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healthcare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delivery.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6836" y="428717"/>
            <a:ext cx="664400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Domain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Area</a:t>
            </a:r>
            <a:r>
              <a:rPr dirty="0" spc="-5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Interest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0024" y="1661707"/>
            <a:ext cx="10838815" cy="4993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Domain: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Healthcare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/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Medical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Records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Area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Interest: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2400">
                <a:latin typeface="Arial MT"/>
                <a:cs typeface="Arial MT"/>
              </a:rPr>
              <a:t>Artificial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Intelligence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(AI),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Machine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Medical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Records,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Computer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Vision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project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sits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intersection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healthcare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technology,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focusing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AI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advanced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analytics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improve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early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diagnosis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diabetes </a:t>
            </a:r>
            <a:r>
              <a:rPr dirty="0" sz="2400">
                <a:latin typeface="Arial MT"/>
                <a:cs typeface="Arial MT"/>
              </a:rPr>
              <a:t>through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health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indicators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like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blood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glucose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levels,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pregnancy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history,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relevant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metrics.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aims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enhance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diagnostic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accuracy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streamline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identification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diabetes-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conditions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primary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settings.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 MT"/>
              <a:cs typeface="Arial MT"/>
            </a:endParaRPr>
          </a:p>
          <a:p>
            <a:pPr algn="r" marR="364490">
              <a:lnSpc>
                <a:spcPct val="100000"/>
              </a:lnSpc>
            </a:pPr>
            <a:r>
              <a:rPr dirty="0" sz="1800" spc="-50">
                <a:solidFill>
                  <a:srgbClr val="8B8B8B"/>
                </a:solidFill>
                <a:latin typeface="Cambria"/>
                <a:cs typeface="Cambria"/>
              </a:rPr>
              <a:t>4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6446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Objectives</a:t>
            </a:r>
            <a:r>
              <a:rPr dirty="0" spc="-7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dirty="0" spc="-7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1900" y="1379375"/>
            <a:ext cx="10679430" cy="5344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mbria"/>
                <a:cs typeface="Cambria"/>
              </a:rPr>
              <a:t>Objective</a:t>
            </a:r>
            <a:endParaRPr sz="2000">
              <a:latin typeface="Cambria"/>
              <a:cs typeface="Cambria"/>
            </a:endParaRPr>
          </a:p>
          <a:p>
            <a:pPr marL="469900" marR="532130" indent="-38227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2000" spc="-10">
                <a:latin typeface="Cambria"/>
                <a:cs typeface="Cambria"/>
              </a:rPr>
              <a:t>Develop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AI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tool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early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diabetes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detection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using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health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indicators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(e.g.,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blood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glucose, </a:t>
            </a:r>
            <a:r>
              <a:rPr dirty="0" sz="2000">
                <a:latin typeface="Cambria"/>
                <a:cs typeface="Cambria"/>
              </a:rPr>
              <a:t>pregnancy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history).</a:t>
            </a:r>
            <a:endParaRPr sz="2000">
              <a:latin typeface="Cambria"/>
              <a:cs typeface="Cambria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>
                <a:latin typeface="Cambria"/>
                <a:cs typeface="Cambria"/>
              </a:rPr>
              <a:t>Implement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machine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learning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algorithms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classify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diabetes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risk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levels.</a:t>
            </a:r>
            <a:endParaRPr sz="2000">
              <a:latin typeface="Cambria"/>
              <a:cs typeface="Cambria"/>
            </a:endParaRPr>
          </a:p>
          <a:p>
            <a:pPr marL="469900" marR="151130" indent="-38227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000">
                <a:latin typeface="Cambria"/>
                <a:cs typeface="Cambria"/>
              </a:rPr>
              <a:t>Create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user-</a:t>
            </a:r>
            <a:r>
              <a:rPr dirty="0" sz="2000">
                <a:latin typeface="Cambria"/>
                <a:cs typeface="Cambria"/>
              </a:rPr>
              <a:t>friendly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interface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primary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healthcare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providers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input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and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analyze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patient data.</a:t>
            </a:r>
            <a:endParaRPr sz="2000">
              <a:latin typeface="Cambria"/>
              <a:cs typeface="Cambria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2000" spc="-10">
                <a:latin typeface="Cambria"/>
                <a:cs typeface="Cambria"/>
              </a:rPr>
              <a:t>Evaluate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the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tool's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performance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and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accuracy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compared</a:t>
            </a:r>
            <a:r>
              <a:rPr dirty="0" sz="2000" spc="-5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existing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diagnostic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methods.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 spc="-10">
                <a:latin typeface="Cambria"/>
                <a:cs typeface="Cambria"/>
              </a:rPr>
              <a:t>S</a:t>
            </a:r>
            <a:r>
              <a:rPr dirty="0" sz="2000" spc="-10" b="1">
                <a:latin typeface="Cambria"/>
                <a:cs typeface="Cambria"/>
              </a:rPr>
              <a:t>cope</a:t>
            </a:r>
            <a:endParaRPr sz="2000">
              <a:latin typeface="Cambria"/>
              <a:cs typeface="Cambria"/>
            </a:endParaRPr>
          </a:p>
          <a:p>
            <a:pPr marL="469900" marR="433070" indent="-38227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2000" spc="-20">
                <a:latin typeface="Cambria"/>
                <a:cs typeface="Cambria"/>
              </a:rPr>
              <a:t>Focus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on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automated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classification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diabetes-</a:t>
            </a:r>
            <a:r>
              <a:rPr dirty="0" sz="2000">
                <a:latin typeface="Cambria"/>
                <a:cs typeface="Cambria"/>
              </a:rPr>
              <a:t>related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health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indicators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(e.g.,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blood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glucose, </a:t>
            </a:r>
            <a:r>
              <a:rPr dirty="0" sz="2000">
                <a:latin typeface="Cambria"/>
                <a:cs typeface="Cambria"/>
              </a:rPr>
              <a:t>pregnancy</a:t>
            </a:r>
            <a:r>
              <a:rPr dirty="0" sz="2000" spc="-7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history).</a:t>
            </a:r>
            <a:endParaRPr sz="2000">
              <a:latin typeface="Cambria"/>
              <a:cs typeface="Cambria"/>
            </a:endParaRPr>
          </a:p>
          <a:p>
            <a:pPr marL="469900" marR="544195" indent="-38227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000">
                <a:latin typeface="Cambria"/>
                <a:cs typeface="Cambria"/>
              </a:rPr>
              <a:t>Designed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integration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into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primary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healthcare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settings,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especially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where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specialists</a:t>
            </a:r>
            <a:r>
              <a:rPr dirty="0" sz="2000" spc="-65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are </a:t>
            </a:r>
            <a:r>
              <a:rPr dirty="0" sz="2000" spc="-10">
                <a:latin typeface="Cambria"/>
                <a:cs typeface="Cambria"/>
              </a:rPr>
              <a:t>scarce</a:t>
            </a:r>
            <a:endParaRPr sz="2000">
              <a:latin typeface="Cambria"/>
              <a:cs typeface="Cambria"/>
            </a:endParaRPr>
          </a:p>
          <a:p>
            <a:pPr marL="469900" marR="5080" indent="-38227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2000" spc="-10">
                <a:latin typeface="Cambria"/>
                <a:cs typeface="Cambria"/>
              </a:rPr>
              <a:t>Provide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solution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the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early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detection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diabetes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to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enable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timely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intervention</a:t>
            </a:r>
            <a:r>
              <a:rPr dirty="0" sz="2000" spc="-4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and</a:t>
            </a:r>
            <a:r>
              <a:rPr dirty="0" sz="2000" spc="-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prevent complications.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1688" y="350937"/>
            <a:ext cx="260223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Calibri"/>
                <a:cs typeface="Calibri"/>
              </a:rPr>
              <a:t>Motivation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17225" y="6355046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8B8B8B"/>
                </a:solidFill>
                <a:latin typeface="Cambria"/>
                <a:cs typeface="Cambria"/>
              </a:rPr>
              <a:t>6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2325" y="1780208"/>
            <a:ext cx="1054671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"/>
                <a:cs typeface="Cambria"/>
              </a:rPr>
              <a:t>Diabetes-</a:t>
            </a:r>
            <a:r>
              <a:rPr dirty="0" sz="2400" spc="-10">
                <a:latin typeface="Cambria"/>
                <a:cs typeface="Cambria"/>
              </a:rPr>
              <a:t>related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complications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are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leading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cause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preventable</a:t>
            </a:r>
            <a:r>
              <a:rPr dirty="0" sz="2400" spc="-5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blindness. </a:t>
            </a:r>
            <a:r>
              <a:rPr dirty="0" sz="2400" spc="-50">
                <a:latin typeface="Cambria"/>
                <a:cs typeface="Cambria"/>
              </a:rPr>
              <a:t>However,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many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individuals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with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diabetes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do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not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receive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early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diagnoses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due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to </a:t>
            </a:r>
            <a:r>
              <a:rPr dirty="0" sz="2400">
                <a:latin typeface="Cambria"/>
                <a:cs typeface="Cambria"/>
              </a:rPr>
              <a:t>limited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access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specialized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care.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primary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healthcare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settings,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where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most </a:t>
            </a:r>
            <a:r>
              <a:rPr dirty="0" sz="2400">
                <a:latin typeface="Cambria"/>
                <a:cs typeface="Cambria"/>
              </a:rPr>
              <a:t>patients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initially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seek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help,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absence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trained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specialists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diagnostic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tools </a:t>
            </a:r>
            <a:r>
              <a:rPr dirty="0" sz="2400">
                <a:latin typeface="Cambria"/>
                <a:cs typeface="Cambria"/>
              </a:rPr>
              <a:t>often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results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delayed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detection.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Leveraging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Artificial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Intelligence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(AI)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offers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50">
                <a:latin typeface="Cambria"/>
                <a:cs typeface="Cambria"/>
              </a:rPr>
              <a:t>a </a:t>
            </a:r>
            <a:r>
              <a:rPr dirty="0" sz="2400" spc="-10">
                <a:latin typeface="Cambria"/>
                <a:cs typeface="Cambria"/>
              </a:rPr>
              <a:t>promising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solution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overcome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this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challenge,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enabling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faster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more</a:t>
            </a:r>
            <a:r>
              <a:rPr dirty="0" sz="2400" spc="-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accurate diagnoses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through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analysis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key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health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indicators.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This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project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aims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enhance </a:t>
            </a:r>
            <a:r>
              <a:rPr dirty="0" sz="2400">
                <a:latin typeface="Cambria"/>
                <a:cs typeface="Cambria"/>
              </a:rPr>
              <a:t>early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detection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of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diabetes-</a:t>
            </a:r>
            <a:r>
              <a:rPr dirty="0" sz="2400" spc="-10">
                <a:latin typeface="Cambria"/>
                <a:cs typeface="Cambria"/>
              </a:rPr>
              <a:t>related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complications,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improve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accessibility</a:t>
            </a:r>
            <a:r>
              <a:rPr dirty="0" sz="2400" spc="-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-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timely diagnoses,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reduce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the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strain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on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healthcare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systems,</a:t>
            </a:r>
            <a:r>
              <a:rPr dirty="0" sz="2400" spc="-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ultimately</a:t>
            </a:r>
            <a:r>
              <a:rPr dirty="0" sz="2400" spc="-7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preventing blindness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improving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patient</a:t>
            </a:r>
            <a:r>
              <a:rPr dirty="0" sz="2400" spc="-85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outcomes.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4161" rIns="0" bIns="0" rtlCol="0" vert="horz">
            <a:spAutoFit/>
          </a:bodyPr>
          <a:lstStyle/>
          <a:p>
            <a:pPr marL="20542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Methodology(Approach)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94335" algn="l"/>
              </a:tabLst>
            </a:pPr>
            <a:r>
              <a:rPr dirty="0"/>
              <a:t>Data</a:t>
            </a:r>
            <a:r>
              <a:rPr dirty="0" spc="-55"/>
              <a:t> </a:t>
            </a:r>
            <a:r>
              <a:rPr dirty="0"/>
              <a:t>Collection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Preprocessing:</a:t>
            </a:r>
          </a:p>
          <a:p>
            <a:pPr marL="394335" marR="657225">
              <a:lnSpc>
                <a:spcPct val="100000"/>
              </a:lnSpc>
            </a:pPr>
            <a:r>
              <a:rPr dirty="0" b="0">
                <a:latin typeface="Arial MT"/>
                <a:cs typeface="Arial MT"/>
              </a:rPr>
              <a:t>Collect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and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preprocess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relevant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health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data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(e.g.,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blood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glucose</a:t>
            </a:r>
            <a:r>
              <a:rPr dirty="0" spc="-5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levels,</a:t>
            </a:r>
            <a:r>
              <a:rPr dirty="0" spc="-6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pregnancy </a:t>
            </a:r>
            <a:r>
              <a:rPr dirty="0" b="0">
                <a:latin typeface="Arial MT"/>
                <a:cs typeface="Arial MT"/>
              </a:rPr>
              <a:t>history)</a:t>
            </a:r>
            <a:r>
              <a:rPr dirty="0" spc="-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ensure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it’s</a:t>
            </a:r>
            <a:r>
              <a:rPr dirty="0" spc="-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clean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and</a:t>
            </a:r>
            <a:r>
              <a:rPr dirty="0" spc="-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standardized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for</a:t>
            </a:r>
            <a:r>
              <a:rPr dirty="0" spc="-4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analysis.</a:t>
            </a:r>
          </a:p>
          <a:p>
            <a:pPr marL="394335" indent="-381635">
              <a:lnSpc>
                <a:spcPct val="100000"/>
              </a:lnSpc>
              <a:buFont typeface="Arial MT"/>
              <a:buChar char="●"/>
              <a:tabLst>
                <a:tab pos="394335" algn="l"/>
              </a:tabLst>
            </a:pPr>
            <a:r>
              <a:rPr dirty="0"/>
              <a:t>Model</a:t>
            </a:r>
            <a:r>
              <a:rPr dirty="0" spc="-25"/>
              <a:t> </a:t>
            </a:r>
            <a:r>
              <a:rPr dirty="0" spc="-10"/>
              <a:t>Development:</a:t>
            </a:r>
          </a:p>
          <a:p>
            <a:pPr marL="394335" marR="5080">
              <a:lnSpc>
                <a:spcPct val="100000"/>
              </a:lnSpc>
            </a:pPr>
            <a:r>
              <a:rPr dirty="0" b="0">
                <a:latin typeface="Arial MT"/>
                <a:cs typeface="Arial MT"/>
              </a:rPr>
              <a:t>Develop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machine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learning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model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analyze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health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indicators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and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detect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early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signs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of </a:t>
            </a:r>
            <a:r>
              <a:rPr dirty="0" spc="-10" b="0">
                <a:latin typeface="Arial MT"/>
                <a:cs typeface="Arial MT"/>
              </a:rPr>
              <a:t>diabetes.</a:t>
            </a:r>
          </a:p>
          <a:p>
            <a:pPr marL="394335" indent="-381635">
              <a:lnSpc>
                <a:spcPct val="100000"/>
              </a:lnSpc>
              <a:buFont typeface="Arial MT"/>
              <a:buChar char="●"/>
              <a:tabLst>
                <a:tab pos="394335" algn="l"/>
              </a:tabLst>
            </a:pPr>
            <a:r>
              <a:rPr dirty="0" spc="-10"/>
              <a:t>Training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10"/>
              <a:t>Validation:</a:t>
            </a:r>
          </a:p>
          <a:p>
            <a:pPr marL="394335" marR="958850">
              <a:lnSpc>
                <a:spcPct val="100000"/>
              </a:lnSpc>
            </a:pPr>
            <a:r>
              <a:rPr dirty="0" spc="-10" b="0">
                <a:latin typeface="Arial MT"/>
                <a:cs typeface="Arial MT"/>
              </a:rPr>
              <a:t>Train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the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model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on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labeled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data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and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validate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its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accuracy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using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spc="-20" b="0">
                <a:latin typeface="Arial MT"/>
                <a:cs typeface="Arial MT"/>
              </a:rPr>
              <a:t>cross-</a:t>
            </a:r>
            <a:r>
              <a:rPr dirty="0" spc="-10" b="0">
                <a:latin typeface="Arial MT"/>
                <a:cs typeface="Arial MT"/>
              </a:rPr>
              <a:t>validation techniques.</a:t>
            </a:r>
          </a:p>
          <a:p>
            <a:pPr marL="394335" indent="-381635">
              <a:lnSpc>
                <a:spcPct val="100000"/>
              </a:lnSpc>
              <a:buFont typeface="Arial MT"/>
              <a:buChar char="●"/>
              <a:tabLst>
                <a:tab pos="394335" algn="l"/>
              </a:tabLst>
            </a:pPr>
            <a:r>
              <a:rPr dirty="0"/>
              <a:t>User</a:t>
            </a:r>
            <a:r>
              <a:rPr dirty="0" spc="-55"/>
              <a:t> </a:t>
            </a:r>
            <a:r>
              <a:rPr dirty="0"/>
              <a:t>Interface</a:t>
            </a:r>
            <a:r>
              <a:rPr dirty="0" spc="-55"/>
              <a:t> </a:t>
            </a:r>
            <a:r>
              <a:rPr dirty="0" spc="-10"/>
              <a:t>Design:</a:t>
            </a:r>
          </a:p>
          <a:p>
            <a:pPr marL="394335" marR="217170">
              <a:lnSpc>
                <a:spcPct val="100000"/>
              </a:lnSpc>
            </a:pPr>
            <a:r>
              <a:rPr dirty="0" b="0">
                <a:latin typeface="Arial MT"/>
                <a:cs typeface="Arial MT"/>
              </a:rPr>
              <a:t>Create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simple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web-</a:t>
            </a:r>
            <a:r>
              <a:rPr dirty="0" b="0">
                <a:latin typeface="Arial MT"/>
                <a:cs typeface="Arial MT"/>
              </a:rPr>
              <a:t>based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interface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for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healthcare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providers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input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patient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data</a:t>
            </a:r>
            <a:r>
              <a:rPr dirty="0" spc="-35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and </a:t>
            </a:r>
            <a:r>
              <a:rPr dirty="0" spc="-20" b="0">
                <a:latin typeface="Arial MT"/>
                <a:cs typeface="Arial MT"/>
              </a:rPr>
              <a:t>receive</a:t>
            </a:r>
            <a:r>
              <a:rPr dirty="0" spc="-12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AI-</a:t>
            </a:r>
            <a:r>
              <a:rPr dirty="0" b="0">
                <a:latin typeface="Arial MT"/>
                <a:cs typeface="Arial MT"/>
              </a:rPr>
              <a:t>driven</a:t>
            </a:r>
            <a:r>
              <a:rPr dirty="0" spc="-4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diagnostic</a:t>
            </a:r>
            <a:r>
              <a:rPr dirty="0" spc="-2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results.</a:t>
            </a:r>
          </a:p>
          <a:p>
            <a:pPr marL="394335" indent="-381635">
              <a:lnSpc>
                <a:spcPct val="100000"/>
              </a:lnSpc>
              <a:buFont typeface="Arial MT"/>
              <a:buChar char="●"/>
              <a:tabLst>
                <a:tab pos="394335" algn="l"/>
              </a:tabLst>
            </a:pPr>
            <a:r>
              <a:rPr dirty="0"/>
              <a:t>Evaluation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Testing:</a:t>
            </a:r>
          </a:p>
          <a:p>
            <a:pPr marL="394335" marR="52705">
              <a:lnSpc>
                <a:spcPct val="100000"/>
              </a:lnSpc>
            </a:pPr>
            <a:r>
              <a:rPr dirty="0" b="0">
                <a:latin typeface="Arial MT"/>
                <a:cs typeface="Arial MT"/>
              </a:rPr>
              <a:t>Evaluate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the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system’s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accuracy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by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comparing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it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to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existing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diagnostic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methods,</a:t>
            </a:r>
            <a:r>
              <a:rPr dirty="0" spc="-5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such</a:t>
            </a:r>
            <a:r>
              <a:rPr dirty="0" spc="-45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as </a:t>
            </a:r>
            <a:r>
              <a:rPr dirty="0" b="0">
                <a:latin typeface="Arial MT"/>
                <a:cs typeface="Arial MT"/>
              </a:rPr>
              <a:t>manual</a:t>
            </a:r>
            <a:r>
              <a:rPr dirty="0" spc="-10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assessments.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9710" y="2896496"/>
            <a:ext cx="308292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0000FF"/>
                </a:solidFill>
              </a:rPr>
              <a:t>Thank</a:t>
            </a:r>
            <a:r>
              <a:rPr dirty="0" sz="4800" spc="-260">
                <a:solidFill>
                  <a:srgbClr val="0000FF"/>
                </a:solidFill>
              </a:rPr>
              <a:t> </a:t>
            </a:r>
            <a:r>
              <a:rPr dirty="0" sz="4800" spc="-70">
                <a:solidFill>
                  <a:srgbClr val="0000FF"/>
                </a:solidFill>
              </a:rPr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SEPM PROJECT PPT</dc:title>
  <dcterms:created xsi:type="dcterms:W3CDTF">2025-04-23T04:47:45Z</dcterms:created>
  <dcterms:modified xsi:type="dcterms:W3CDTF">2025-04-23T04:47:45Z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2025-04-23T00:00:00Z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2025-04-23T00:00:00Z</vt:filetime>
  </property>
</Properties>
</file>